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Calibri"/>
              </a:rPr>
              <a:t>RaceDay · OCR BIB 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06B6D4"/>
                </a:solidFill>
                <a:latin typeface="Calibri"/>
              </a:rPr>
              <a:t>Thuyết trình demo — trọng tâm GIẢI THÍCH THUẬT TOÁN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337560"/>
            <a:ext cx="2011680" cy="50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058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F8FAFC"/>
                </a:solidFill>
                <a:latin typeface="Calibri"/>
              </a:rPr>
              <a:t>Không chỉ nêu tên tech — giải thích cách chạy, input/output, vì sao chọn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F8FAFC"/>
                </a:solidFill>
                <a:latin typeface="Calibri"/>
              </a:rPr>
              <a:t>Dedupe · Blur · YOLO ROI · PaddleOCR · Classify bands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F8FAFC"/>
                </a:solidFill>
                <a:latin typeface="Calibri"/>
              </a:rPr>
              <a:t>Live UI: http://127.0.0.1:8089/demo  ·  run_demo.ps1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4A3B8"/>
                </a:solidFill>
                <a:latin typeface="Calibri"/>
              </a:rPr>
              <a:t>RaceDay OCR · Demo thuyết trình  ·  Giải thích thuật toán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10528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1/25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Mục lục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005840" cy="50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94A3B8"/>
                </a:solidFill>
                <a:latin typeface="Calibri"/>
              </a:rPr>
              <a:t>Nhảy tới mục 06 khi mentor hỏi thuật toán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5532120" cy="1143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4937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6B6D4"/>
                </a:solidFill>
                <a:latin typeface="Calibri"/>
              </a:rPr>
              <a:t>01  </a:t>
            </a:r>
            <a:r>
              <a:rPr sz="1800" b="1">
                <a:solidFill>
                  <a:srgbClr val="FFFFFF"/>
                </a:solidFill>
                <a:latin typeface="Calibri"/>
              </a:rPr>
              <a:t>Thư mục &amp; flow demo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59" y="1371600"/>
            <a:ext cx="5532120" cy="1143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79" y="1691640"/>
            <a:ext cx="4937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6B6D4"/>
                </a:solidFill>
                <a:latin typeface="Calibri"/>
              </a:rPr>
              <a:t>02  </a:t>
            </a:r>
            <a:r>
              <a:rPr sz="1800" b="1">
                <a:solidFill>
                  <a:srgbClr val="FFFFFF"/>
                </a:solidFill>
                <a:latin typeface="Calibri"/>
              </a:rPr>
              <a:t>Pipeline tổng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743200"/>
            <a:ext cx="5532120" cy="1143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063240"/>
            <a:ext cx="4937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6B6D4"/>
                </a:solidFill>
                <a:latin typeface="Calibri"/>
              </a:rPr>
              <a:t>03  </a:t>
            </a:r>
            <a:r>
              <a:rPr sz="1800" b="1">
                <a:solidFill>
                  <a:srgbClr val="FFFFFF"/>
                </a:solidFill>
                <a:latin typeface="Calibri"/>
              </a:rPr>
              <a:t>THUẬT TOÁN chi tiết 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2743200"/>
            <a:ext cx="5532120" cy="1143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79" y="3063240"/>
            <a:ext cx="4937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6B6D4"/>
                </a:solidFill>
                <a:latin typeface="Calibri"/>
              </a:rPr>
              <a:t>04  </a:t>
            </a:r>
            <a:r>
              <a:rPr sz="1800" b="1">
                <a:solidFill>
                  <a:srgbClr val="FFFFFF"/>
                </a:solidFill>
                <a:latin typeface="Calibri"/>
              </a:rPr>
              <a:t>Code map theo file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114800"/>
            <a:ext cx="5532120" cy="1143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434840"/>
            <a:ext cx="4937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6B6D4"/>
                </a:solidFill>
                <a:latin typeface="Calibri"/>
              </a:rPr>
              <a:t>05  </a:t>
            </a:r>
            <a:r>
              <a:rPr sz="1800" b="1">
                <a:solidFill>
                  <a:srgbClr val="FFFFFF"/>
                </a:solidFill>
                <a:latin typeface="Calibri"/>
              </a:rPr>
              <a:t>Vì sao không dùng cái khác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59" y="4114800"/>
            <a:ext cx="5532120" cy="1143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79" y="4434840"/>
            <a:ext cx="4937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6B6D4"/>
                </a:solidFill>
                <a:latin typeface="Calibri"/>
              </a:rPr>
              <a:t>06  </a:t>
            </a:r>
            <a:r>
              <a:rPr sz="1800" b="1">
                <a:solidFill>
                  <a:srgbClr val="FFFFFF"/>
                </a:solidFill>
                <a:latin typeface="Calibri"/>
              </a:rPr>
              <a:t>FAQ + checklist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510528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4A3B8"/>
                </a:solidFill>
                <a:latin typeface="Calibri"/>
              </a:rPr>
              <a:t>RaceDay OCR · Demo thuyết trình  ·  Giải thích thuật toán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60" y="6510528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2/25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01 · Bản đồ thư mục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005840" cy="50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94A3B8"/>
                </a:solidFill>
                <a:latin typeface="Calibri"/>
              </a:rPr>
              <a:t>rule_design = quyết định · src/app = code chạy</a:t>
            </a:r>
          </a:p>
        </p:txBody>
      </p:sp>
      <p:pic>
        <p:nvPicPr>
          <p:cNvPr id="5" name="Picture 4" descr="folder_ma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9720" y="1280160"/>
            <a:ext cx="9022079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510528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4A3B8"/>
                </a:solidFill>
                <a:latin typeface="Calibri"/>
              </a:rPr>
              <a:t>RaceDay OCR · Demo thuyết trình  ·  Giải thích thuật toán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10528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3/25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01 · Flow demo 3 phút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005840" cy="50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94A3B8"/>
                </a:solidFill>
                <a:latin typeface="Calibri"/>
              </a:rPr>
              <a:t>Chứng minh hệ thống trước khi đào thuật toán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554480"/>
            <a:ext cx="2194560" cy="42062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1920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6B6D4"/>
                </a:solidFill>
                <a:latin typeface="Calibri"/>
              </a:rPr>
              <a:t>1</a:t>
            </a:r>
          </a:p>
          <a:p>
            <a:r>
              <a:rPr sz="1500" b="1">
                <a:solidFill>
                  <a:srgbClr val="FFFFFF"/>
                </a:solidFill>
                <a:latin typeface="Calibri"/>
              </a:rPr>
              <a:t>/healthz</a:t>
            </a:r>
          </a:p>
          <a:p>
            <a:r>
              <a:rPr sz="1300" b="0">
                <a:solidFill>
                  <a:srgbClr val="94A3B8"/>
                </a:solidFill>
                <a:latin typeface="Calibri"/>
              </a:rPr>
              <a:t>mock=false · yolo · paddle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97479" y="1554480"/>
            <a:ext cx="2194560" cy="42062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34639" y="1828800"/>
            <a:ext cx="1920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6B6D4"/>
                </a:solidFill>
                <a:latin typeface="Calibri"/>
              </a:rPr>
              <a:t>2</a:t>
            </a:r>
          </a:p>
          <a:p>
            <a:r>
              <a:rPr sz="1500" b="1">
                <a:solidFill>
                  <a:srgbClr val="FFFFFF"/>
                </a:solidFill>
                <a:latin typeface="Calibri"/>
              </a:rPr>
              <a:t>/demo</a:t>
            </a:r>
          </a:p>
          <a:p>
            <a:r>
              <a:rPr sz="1300" b="0">
                <a:solidFill>
                  <a:srgbClr val="94A3B8"/>
                </a:solidFill>
                <a:latin typeface="Calibri"/>
              </a:rPr>
              <a:t>Upload ảnh VN rõ BIB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1554480"/>
            <a:ext cx="2194560" cy="42062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828800"/>
            <a:ext cx="1920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6B6D4"/>
                </a:solidFill>
                <a:latin typeface="Calibri"/>
              </a:rPr>
              <a:t>3</a:t>
            </a:r>
          </a:p>
          <a:p>
            <a:r>
              <a:rPr sz="1500" b="1">
                <a:solidFill>
                  <a:srgbClr val="FFFFFF"/>
                </a:solidFill>
                <a:latin typeface="Calibri"/>
              </a:rPr>
              <a:t>Duplicate</a:t>
            </a:r>
          </a:p>
          <a:p>
            <a:r>
              <a:rPr sz="1300" b="0">
                <a:solidFill>
                  <a:srgbClr val="94A3B8"/>
                </a:solidFill>
                <a:latin typeface="Calibri"/>
              </a:rPr>
              <a:t>Cùng file, bỏ Force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19" y="1554480"/>
            <a:ext cx="2194560" cy="42062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1828800"/>
            <a:ext cx="1920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6B6D4"/>
                </a:solidFill>
                <a:latin typeface="Calibri"/>
              </a:rPr>
              <a:t>4</a:t>
            </a:r>
          </a:p>
          <a:p>
            <a:r>
              <a:rPr sz="1500" b="1">
                <a:solidFill>
                  <a:srgbClr val="FFFFFF"/>
                </a:solidFill>
                <a:latin typeface="Calibri"/>
              </a:rPr>
              <a:t>no_bib</a:t>
            </a:r>
          </a:p>
          <a:p>
            <a:r>
              <a:rPr sz="1300" b="0">
                <a:solidFill>
                  <a:srgbClr val="94A3B8"/>
                </a:solidFill>
                <a:latin typeface="Calibri"/>
              </a:rPr>
              <a:t>Watermark / ảnh mờ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92640" y="1554480"/>
            <a:ext cx="2194560" cy="42062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29800" y="1828800"/>
            <a:ext cx="1920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6B6D4"/>
                </a:solidFill>
                <a:latin typeface="Calibri"/>
              </a:rPr>
              <a:t>5</a:t>
            </a:r>
          </a:p>
          <a:p>
            <a:r>
              <a:rPr sz="1500" b="1">
                <a:solidFill>
                  <a:srgbClr val="FFFFFF"/>
                </a:solidFill>
                <a:latin typeface="Calibri"/>
              </a:rPr>
              <a:t>Review</a:t>
            </a:r>
          </a:p>
          <a:p>
            <a:r>
              <a:rPr sz="1300" b="0">
                <a:solidFill>
                  <a:srgbClr val="94A3B8"/>
                </a:solidFill>
                <a:latin typeface="Calibri"/>
              </a:rPr>
              <a:t>OCR assistive, không 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10528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4A3B8"/>
                </a:solidFill>
                <a:latin typeface="Calibri"/>
              </a:rPr>
              <a:t>RaceDay OCR · Demo thuyết trình  ·  Giải thích thuật toán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6510528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4/25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02 · Pipeline — thứ tự cố định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005840" cy="50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94A3B8"/>
                </a:solidFill>
                <a:latin typeface="Calibri"/>
              </a:rPr>
              <a:t>Mỗi bước là 1 thuật toán (mục sau giải thích)</a:t>
            </a:r>
          </a:p>
        </p:txBody>
      </p:sp>
      <p:pic>
        <p:nvPicPr>
          <p:cNvPr id="5" name="Picture 4" descr="ocr_pipeline_flo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9720" y="1280160"/>
            <a:ext cx="9022079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510528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4A3B8"/>
                </a:solidFill>
                <a:latin typeface="Calibri"/>
              </a:rPr>
              <a:t>RaceDay OCR · Demo thuyết trình  ·  Giải thích thuật toán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10528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5/25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02 · Pipeline = chuỗi quyết định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005840" cy="50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94A3B8"/>
                </a:solidFill>
                <a:latin typeface="Calibri"/>
              </a:rPr>
              <a:t>Fail sớm (dedupe/blur) → tiết kiệm YOLO/OCR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325880"/>
            <a:ext cx="3657600" cy="47548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63039"/>
            <a:ext cx="3291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6B6D4"/>
                </a:solidFill>
                <a:latin typeface="Calibri"/>
              </a:rPr>
              <a:t>A. Rẻ &amp; sớm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1. Decode ảnh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2. SHA-256 exact dup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3. dHash near dup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4. EXIF + downscale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5. Laplacian blur gate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→ Reject trước khi ML nặng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1325880"/>
            <a:ext cx="3657600" cy="47548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1463039"/>
            <a:ext cx="3291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4D399"/>
                </a:solidFill>
                <a:latin typeface="Calibri"/>
              </a:rPr>
              <a:t>B. ML chính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6. YOLO tìm person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7. Cắt 3 band torso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8. Upscale crop nhỏ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9. PaddleOCR mỗi crop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10. Gộp candidates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→ Chỉ đọc vùng có BIB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325880"/>
            <a:ext cx="3657600" cy="47548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19" y="1463039"/>
            <a:ext cx="3291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59E0B"/>
                </a:solidFill>
                <a:latin typeface="Calibri"/>
              </a:rPr>
              <a:t>C. Quyết định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11. Bỏ watermark zone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12. Blocklist slogan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13. Regex shape BIB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14. Dual threshold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15. Roster hint (optional)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→ status + tags[]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10528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4A3B8"/>
                </a:solidFill>
                <a:latin typeface="Calibri"/>
              </a:rPr>
              <a:t>RaceDay OCR · Demo thuyết trình  ·  Giải thích thuật toán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510528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6/25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03 · THUẬT TOÁN — giải thích chi tiết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94A3B8"/>
                </a:solidFill>
                <a:latin typeface="Calibri"/>
              </a:rPr>
              <a:t>Mỗi slide: Ý tưởng → Cách chạy → Ngưỡng/output → File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931920"/>
            <a:ext cx="2286000" cy="50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4A3B8"/>
                </a:solidFill>
                <a:latin typeface="Calibri"/>
              </a:rPr>
              <a:t>RaceDay OCR · Demo thuyết trình  ·  Giải thích thuật toán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510528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7/25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03.0 · Hai nhóm thuật toán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005840" cy="50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94A3B8"/>
                </a:solidFill>
                <a:latin typeface="Calibri"/>
              </a:rPr>
              <a:t>Dedupe/Blur (trái) · YOLO→OCR→Classify (phải)</a:t>
            </a:r>
          </a:p>
        </p:txBody>
      </p:sp>
      <p:pic>
        <p:nvPicPr>
          <p:cNvPr id="5" name="Picture 4" descr="algo_dedupe_blu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940" y="1280160"/>
            <a:ext cx="8841638" cy="497342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510528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4A3B8"/>
                </a:solidFill>
                <a:latin typeface="Calibri"/>
              </a:rPr>
              <a:t>RaceDay OCR · Demo thuyết trình  ·  Giải thích thuật toán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10528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8/25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03.1 · Exact duplicate — SHA-256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005840" cy="50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94A3B8"/>
                </a:solidFill>
                <a:latin typeface="Calibri"/>
              </a:rPr>
              <a:t>Hash mật mã trên toàn bộ bytes file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280160"/>
            <a:ext cx="5577840" cy="48463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17319"/>
            <a:ext cx="521207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6B6D4"/>
                </a:solidFill>
                <a:latin typeface="Calibri"/>
              </a:rPr>
              <a:t>Cách chạy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Input: raw bytes ảnh upload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digest = SHA256(bytes) → hex 64 ký tự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Index theo event_id: digest → photo_id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Nếu digest đã có &amp; khác photo_id: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  → status = duplicate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  → duplicate_of = photo gốc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  → KHÔNG chạy YOLO/OCR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force=true: bỏ qua chặn (re-process)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532120" cy="48463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417319"/>
            <a:ext cx="516635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59E0B"/>
                </a:solidFill>
                <a:latin typeface="Calibri"/>
              </a:rPr>
              <a:t>Vì sao / lưu ý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• Deterministic: cùng file = cùng hash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• Rẻ (CPU), chạy trước ML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• Scope: trong cùng event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KHÔNG phát hiện: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• Resize / recompress JPEG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• Crop nhẹ cùng khung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→ cần dHash (slide sau)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KHÔNG phải duplicate: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• Nhiều ảnh cùng BIB khác góc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File: services/dedupe.py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4A3B8"/>
                </a:solidFill>
                <a:latin typeface="Calibri"/>
              </a:rPr>
              <a:t>RaceDay OCR · Demo thuyết trình  ·  Giải thích thuật toán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510528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9/25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03.2 · Near-duplicate — dHash + Hamming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005840" cy="50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94A3B8"/>
                </a:solidFill>
                <a:latin typeface="Calibri"/>
              </a:rPr>
              <a:t>Perceptual hash: ảnh “trông giống” dù bytes khác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280160"/>
            <a:ext cx="5577840" cy="48463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17319"/>
            <a:ext cx="521207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6B6D4"/>
                </a:solidFill>
                <a:latin typeface="Calibri"/>
              </a:rPr>
              <a:t>Cách chạy (difference hash)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1. Resize ảnh nhỏ (vd 9×8) grayscale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2. So sánh pixel kề nhau trái→phải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   sáng hơn → bit 1, không → bit 0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3. Ghép thành chuỗi bit (hash)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4. Hamming = số bit khác nhau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   giữa 2 hash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Ngưỡng MVP: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  hamming ≤ NEAR_DUP_HAMMING_MAX (5)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  → coi là near-duplicate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Gray zone 6–10: không auto-merge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532120" cy="48463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417319"/>
            <a:ext cx="516635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4D399"/>
                </a:solidFill>
                <a:latin typeface="Calibri"/>
              </a:rPr>
              <a:t>Ví dụ trực giác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Hash A: 11010010…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Hash B: 11010011…  → Hamming=1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→ gần như cùng ảnh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Hai góc máy khác nhau: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Hamming lớn → KHÔNG gộp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(đúng: giữ cả 2 cho runner)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Vì sao không pHash/ML embedding?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• dHash đủ nhanh cho MVP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• Index đơn giản in-memory/Redis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File: dedupe.py + imagehash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4A3B8"/>
                </a:solidFill>
                <a:latin typeface="Calibri"/>
              </a:rPr>
              <a:t>RaceDay OCR · Demo thuyết trình  ·  Giải thích thuật toán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510528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10/25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03.3 · Blur gate — Laplacian variance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005840" cy="50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94A3B8"/>
                </a:solidFill>
                <a:latin typeface="Calibri"/>
              </a:rPr>
              <a:t>Đo “độ nét” trước khi tốn YOLO/OCR</a:t>
            </a:r>
          </a:p>
        </p:txBody>
      </p:sp>
      <p:pic>
        <p:nvPicPr>
          <p:cNvPr id="5" name="Picture 4" descr="bl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953512"/>
            <a:ext cx="5760719" cy="17282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128016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06B6D4"/>
                </a:solidFill>
                <a:latin typeface="Calibri"/>
              </a:rPr>
              <a:t>Ý tưởng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F8FAFC"/>
                </a:solidFill>
                <a:latin typeface="Calibri"/>
              </a:rPr>
              <a:t>Kernel Laplacian làm nổi cạnh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F8FAFC"/>
                </a:solidFill>
                <a:latin typeface="Calibri"/>
              </a:rPr>
              <a:t>Ảnh nét → cạnh mạnh → variance cao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F8FAFC"/>
                </a:solidFill>
                <a:latin typeface="Calibri"/>
              </a:rPr>
              <a:t>Ảnh mờ → gần phẳng → variance thấp</a:t>
            </a:r>
          </a:p>
          <a:p>
            <a:pPr>
              <a:spcAft>
                <a:spcPts val="500"/>
              </a:spcAft>
            </a:pPr>
            <a:r>
              <a:rPr sz="600" b="0">
                <a:solidFill>
                  <a:srgbClr val="F8FAFC"/>
                </a:solidFill>
                <a:latin typeface="Calibri"/>
              </a:rPr>
              <a:t/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06B6D4"/>
                </a:solidFill>
                <a:latin typeface="Calibri"/>
              </a:rPr>
              <a:t>Công thức MVP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F8FAFC"/>
                </a:solidFill>
                <a:latin typeface="Calibri"/>
              </a:rPr>
              <a:t>var = Var( I ∗ Laplacian_3x3 )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F8FAFC"/>
                </a:solidFill>
                <a:latin typeface="Calibri"/>
              </a:rPr>
              <a:t>nếu var &lt; BLUR_MIN_VARIANCE (40)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F8FAFC"/>
                </a:solidFill>
                <a:latin typeface="Calibri"/>
              </a:rPr>
              <a:t>  → no_bib + reason blur_too_low</a:t>
            </a:r>
          </a:p>
          <a:p>
            <a:pPr>
              <a:spcAft>
                <a:spcPts val="500"/>
              </a:spcAft>
            </a:pPr>
            <a:r>
              <a:rPr sz="600" b="0">
                <a:solidFill>
                  <a:srgbClr val="F8FAFC"/>
                </a:solidFill>
                <a:latin typeface="Calibri"/>
              </a:rPr>
              <a:t/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F59E0B"/>
                </a:solidFill>
                <a:latin typeface="Calibri"/>
              </a:rPr>
              <a:t>Vì sao không deep quality net?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F8FAFC"/>
                </a:solidFill>
                <a:latin typeface="Calibri"/>
              </a:rPr>
              <a:t>Laplacian đủ rẻ, không cần GPU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F8FAFC"/>
                </a:solidFill>
                <a:latin typeface="Calibri"/>
              </a:rPr>
              <a:t>File: services/quality.py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4A3B8"/>
                </a:solidFill>
                <a:latin typeface="Calibri"/>
              </a:rPr>
              <a:t>RaceDay OCR · Demo thuyết trình  ·  Giải thích thuật toán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10528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11/25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03.4 · Person detect — YOLOv8n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005840" cy="50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94A3B8"/>
                </a:solidFill>
                <a:latin typeface="Calibri"/>
              </a:rPr>
              <a:t>Object detection 1-stage: box người trong đám đông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280160"/>
            <a:ext cx="5577840" cy="48463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17319"/>
            <a:ext cx="521207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6B6D4"/>
                </a:solidFill>
                <a:latin typeface="Calibri"/>
              </a:rPr>
              <a:t>Cách chạy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Model: YOLOv8n (nano) — Ultralytics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Input: ảnh RGB đã preprocess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Filter class COCO person = 0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conf ≥ YOLO_CONF (0.25)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Mỗi box: (x1,y1,x2,y2, conf)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Sort theo diện tích box giảm dần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Giữ tối đa YOLO_MAX_PEOPLE (8)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→ ưu tiên runner gần camera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Output: danh sách person boxes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(chưa phải số BIB)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532120" cy="48463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417319"/>
            <a:ext cx="516635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59E0B"/>
                </a:solidFill>
                <a:latin typeface="Calibri"/>
              </a:rPr>
              <a:t>Vì sao YOLO trước OCR?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Full-frame OCR trên ảnh marathon: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• Đọc hết watermark, biển QC, áo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• BIB nhỏ bị “át” bởi chữ lớn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YOLO thu hẹp vùng quan tâm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→ OCR chỉ trên người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Vì sao nano không large?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• CPU demo: nano đủ detect người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• Large chậm, overkill phase này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File: services/detector.py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4A3B8"/>
                </a:solidFill>
                <a:latin typeface="Calibri"/>
              </a:rPr>
              <a:t>RaceDay OCR · Demo thuyết trình  ·  Giải thích thuật toán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510528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12/25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03.5 · Multi-band ROI — cắt 3 dải torso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005840" cy="50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94A3B8"/>
                </a:solidFill>
                <a:latin typeface="Calibri"/>
              </a:rPr>
              <a:t>Bib không chỉ ở ngực — có thể bụng / đùi</a:t>
            </a:r>
          </a:p>
        </p:txBody>
      </p:sp>
      <p:pic>
        <p:nvPicPr>
          <p:cNvPr id="5" name="Picture 4" descr="yolo_multiba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223135"/>
            <a:ext cx="5669280" cy="31889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0" y="128016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F8FAFC"/>
                </a:solidFill>
                <a:latin typeface="Calibri"/>
              </a:rPr>
              <a:t>Với mỗi person box (x1,y1,x2,y2):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F8FAFC"/>
                </a:solidFill>
                <a:latin typeface="Calibri"/>
              </a:rPr>
              <a:t>chest:  top 10%→66% chiều cao người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F8FAFC"/>
                </a:solidFill>
                <a:latin typeface="Calibri"/>
              </a:rPr>
              <a:t>waist: 35%→82%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F8FAFC"/>
                </a:solidFill>
                <a:latin typeface="Calibri"/>
              </a:rPr>
              <a:t>hips:  55%→95%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+ pad ~8% quanh band</a:t>
            </a:r>
          </a:p>
          <a:p>
            <a:pPr>
              <a:spcAft>
                <a:spcPts val="500"/>
              </a:spcAft>
            </a:pPr>
            <a:r>
              <a:rPr sz="600" b="0">
                <a:solidFill>
                  <a:srgbClr val="F8FAFC"/>
                </a:solidFill>
                <a:latin typeface="Calibri"/>
              </a:rPr>
              <a:t/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06B6D4"/>
                </a:solidFill>
                <a:latin typeface="Calibri"/>
              </a:rPr>
              <a:t>Mỗi band = 1 crop → OCR riêng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F8FAFC"/>
                </a:solidFill>
                <a:latin typeface="Calibri"/>
              </a:rPr>
              <a:t>Crop &lt; 320px → upscale LANCZOS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F8FAFC"/>
                </a:solidFill>
                <a:latin typeface="Calibri"/>
              </a:rPr>
              <a:t>(OCR mobile yếu trên ảnh quá nhỏ)</a:t>
            </a:r>
          </a:p>
          <a:p>
            <a:pPr>
              <a:spcAft>
                <a:spcPts val="500"/>
              </a:spcAft>
            </a:pPr>
            <a:r>
              <a:rPr sz="600" b="0">
                <a:solidFill>
                  <a:srgbClr val="F8FAFC"/>
                </a:solidFill>
                <a:latin typeface="Calibri"/>
              </a:rPr>
              <a:t/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F59E0B"/>
                </a:solidFill>
                <a:latin typeface="Calibri"/>
              </a:rPr>
              <a:t>Case thật: chỉ crop ngực → miss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F8FAFC"/>
                </a:solidFill>
                <a:latin typeface="Calibri"/>
              </a:rPr>
              <a:t>→ multi-band nâng từ ~2/5 lên ~3–4/5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4A3B8"/>
                </a:solidFill>
                <a:latin typeface="Calibri"/>
              </a:rPr>
              <a:t>RaceDay OCR · Demo thuyết trình  ·  Giải thích thuật toán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10528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13/25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03.5b · Code ratios _bib_bands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005840" cy="50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94A3B8"/>
                </a:solidFill>
                <a:latin typeface="Calibri"/>
              </a:rPr>
              <a:t>Công thức hình học — không ML</a:t>
            </a:r>
          </a:p>
        </p:txBody>
      </p:sp>
      <p:pic>
        <p:nvPicPr>
          <p:cNvPr id="5" name="Picture 4" descr="ba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116836"/>
            <a:ext cx="11338560" cy="34015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510528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4A3B8"/>
                </a:solidFill>
                <a:latin typeface="Calibri"/>
              </a:rPr>
              <a:t>RaceDay OCR · Demo thuyết trình  ·  Giải thích thuật toán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10528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14/25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03.6 · OCR — PP-OCRv5 mobile (Paddle)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005840" cy="50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94A3B8"/>
                </a:solidFill>
                <a:latin typeface="Calibri"/>
              </a:rPr>
              <a:t>2 mạng: Detection chữ + Recognition chuỗi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280160"/>
            <a:ext cx="5577840" cy="48463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17319"/>
            <a:ext cx="521207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6B6D4"/>
                </a:solidFill>
                <a:latin typeface="Calibri"/>
              </a:rPr>
              <a:t>Cách chạy trên mỗi crop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1. Det: tìm polygon/box chữ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   model: PP-OCRv5_mobile_det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2. Rec: đọc chuỗi trong box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   model: en_PP-OCRv5_mobile_rec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3. Mỗi token: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   text + rec_score ∈ [0,1]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Tối ưu tốc độ: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• Tắt doc orientation / unwarp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• enable_mkldnn=False (ổn định Win)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• Warm-up 1 lần lúc start server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Output: list OcrCandidate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532120" cy="48463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417319"/>
            <a:ext cx="516635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59E0B"/>
                </a:solidFill>
                <a:latin typeface="Calibri"/>
              </a:rPr>
              <a:t>Hiểu đúng rec_score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rec_score cao = model tự tin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về CHUỖI nó đọc được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KHÔNG đồng nghĩa: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• đúng BIB của runner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• không phải watermark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Vd: “QUYNHON” có thể score ~0.99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trong khi BIB nhỏ score thấp hơn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→ bắt buộc bước classify sau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OCR_MOCK=1 → giả A0042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(chỉ test API, không demo VN)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File: services/ocr_engine.py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4A3B8"/>
                </a:solidFill>
                <a:latin typeface="Calibri"/>
              </a:rPr>
              <a:t>RaceDay OCR · Demo thuyết trình  ·  Giải thích thuật toán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510528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15/25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03.7 · Classify — từ raw OCR → status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005840" cy="50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94A3B8"/>
                </a:solidFill>
                <a:latin typeface="Calibri"/>
              </a:rPr>
              <a:t>Filter → shape BIB → dual threshold</a:t>
            </a:r>
          </a:p>
        </p:txBody>
      </p:sp>
      <p:pic>
        <p:nvPicPr>
          <p:cNvPr id="5" name="Picture 4" descr="algo_yolo_ocr_classif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9720" y="1280160"/>
            <a:ext cx="9022079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510528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4A3B8"/>
                </a:solidFill>
                <a:latin typeface="Calibri"/>
              </a:rPr>
              <a:t>RaceDay OCR · Demo thuyết trình  ·  Giải thích thuật toán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10528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16/25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03.7b · Thuật toán classify (decision)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005840" cy="50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94A3B8"/>
                </a:solidFill>
                <a:latin typeface="Calibri"/>
              </a:rPr>
              <a:t>File: services/confidence.py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234440"/>
            <a:ext cx="3794760" cy="48920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342900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6B6D4"/>
                </a:solidFill>
                <a:latin typeface="Calibri"/>
              </a:rPr>
              <a:t>B1. Lọc nhiễu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Bỏ bbox vùng watermark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(cy &lt; 14% chiều cao ảnh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 hoặc góc top-left)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Blocklist substring: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VNEXPRESS, QUYNHON,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MARATHON, HIGHLAND…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Bỏ token thuần chữ ngắn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Bỏ năm 2020–2029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Bỏ số bắt đầu bằng 0 (SĐT)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234440"/>
            <a:ext cx="3794760" cy="48920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371600"/>
            <a:ext cx="342900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4D399"/>
                </a:solidFill>
                <a:latin typeface="Calibri"/>
              </a:rPr>
              <a:t>B2. Shape BIB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Regex MVP: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  ^([A-Z])?(\d{4,5})([MF])?$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Ví dụ nhận: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  80183, A80183F, 8684M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Trích digit-core ưu tiên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(80183) để gắn search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Digit lookalike nhẹ: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  O→0, I/L→1, S→5…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chỉ khi token nghiêng số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+ torso_bonus nhỏ nếu bbox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nằm vùng thân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234440"/>
            <a:ext cx="3566160" cy="48920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1371600"/>
            <a:ext cx="320040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59E0B"/>
                </a:solidFill>
                <a:latin typeface="Calibri"/>
              </a:rPr>
              <a:t>B3. Dual threshold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Gọi conf = rec_score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+ bonus (≤1.0)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conf ≥ AUTO (0.85)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&amp; roster OK: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  → auto_tagged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REVIEW ≤ conf &lt; AUTO: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  → needs_review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conf &lt; REVIEW (0.50):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  → loại / no_bib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Roster rỗng = không chặn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(demo); WebAPI validate sau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10528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4A3B8"/>
                </a:solidFill>
                <a:latin typeface="Calibri"/>
              </a:rPr>
              <a:t>RaceDay OCR · Demo thuyết trình  ·  Giải thích thuật toán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510528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17/25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03.7c · Code dual threshold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005840" cy="50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94A3B8"/>
                </a:solidFill>
                <a:latin typeface="Calibri"/>
              </a:rPr>
              <a:t>auto_tagged vs needs_review vs no_bib</a:t>
            </a:r>
          </a:p>
        </p:txBody>
      </p:sp>
      <p:pic>
        <p:nvPicPr>
          <p:cNvPr id="5" name="Picture 4" descr="classif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116836"/>
            <a:ext cx="11338560" cy="34015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510528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4A3B8"/>
                </a:solidFill>
                <a:latin typeface="Calibri"/>
              </a:rPr>
              <a:t>RaceDay OCR · Demo thuyết trình  ·  Giải thích thuật toán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10528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18/25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03.8 · Backpressure — MAX_INFLIGHT / Semaphore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005840" cy="50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94A3B8"/>
                </a:solidFill>
                <a:latin typeface="Calibri"/>
              </a:rPr>
              <a:t>Thuật toán điều khiển tải, không phải ML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280160"/>
            <a:ext cx="5577840" cy="48463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17319"/>
            <a:ext cx="521207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6B6D4"/>
                </a:solidFill>
                <a:latin typeface="Calibri"/>
              </a:rPr>
              <a:t>Cách chạy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asyncio.Semaphore(N)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N = MAX_INFLIGHT (mặc định 1)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Mỗi job OCR: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  async with semaphore: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      chạy pipeline…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Job thứ 2 phải chờ job 1 xong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(trong cùng 1 process)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Scale thật: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• tăng SỐ PROCESS worker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• mỗi process vẫn inflight=1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• + Redis queue (phase WebAPI)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532120" cy="48463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417319"/>
            <a:ext cx="516635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59E0B"/>
                </a:solidFill>
                <a:latin typeface="Calibri"/>
              </a:rPr>
              <a:t>Vì sao không inflight lớn?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YOLO + Paddle trên CPU: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• RAM tăng gần tuyến tính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• Song song trong 1 process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  dễ swap / đơ máy demo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Nguyên tắc ổn định: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throughput = số worker máy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không = concurrency bừa bãi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File: core/concurrency.py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Calibri"/>
              </a:rPr>
              <a:t>Dùng tại: pipeline.run_pipeline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4A3B8"/>
                </a:solidFill>
                <a:latin typeface="Calibri"/>
              </a:rPr>
              <a:t>RaceDay OCR · Demo thuyết trình  ·  Giải thích thuật toán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510528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19/25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03.9 · Cheat-sheet 1 trang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005840" cy="50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94A3B8"/>
                </a:solidFill>
                <a:latin typeface="Calibri"/>
              </a:rPr>
              <a:t>Nhìn nhanh khi Q&amp;A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623560" cy="7772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481328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6B6D4"/>
                </a:solidFill>
                <a:latin typeface="Calibri"/>
              </a:rPr>
              <a:t>SHA-256</a:t>
            </a:r>
            <a:r>
              <a:rPr sz="1300" b="0">
                <a:solidFill>
                  <a:srgbClr val="F8FAFC"/>
                </a:solidFill>
                <a:latin typeface="Calibri"/>
              </a:rPr>
              <a:t>  —  Exact dup — hash bytes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94560"/>
            <a:ext cx="5623560" cy="7772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2395728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6B6D4"/>
                </a:solidFill>
                <a:latin typeface="Calibri"/>
              </a:rPr>
              <a:t>dHash+Hamming</a:t>
            </a:r>
            <a:r>
              <a:rPr sz="1300" b="0">
                <a:solidFill>
                  <a:srgbClr val="F8FAFC"/>
                </a:solidFill>
                <a:latin typeface="Calibri"/>
              </a:rPr>
              <a:t>  —  Near dup — bit khác ≤5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108960"/>
            <a:ext cx="5623560" cy="7772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3310128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6B6D4"/>
                </a:solidFill>
                <a:latin typeface="Calibri"/>
              </a:rPr>
              <a:t>Laplacian var</a:t>
            </a:r>
            <a:r>
              <a:rPr sz="1300" b="0">
                <a:solidFill>
                  <a:srgbClr val="F8FAFC"/>
                </a:solidFill>
                <a:latin typeface="Calibri"/>
              </a:rPr>
              <a:t>  —  Blur gate — var &lt; 40 reject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023360"/>
            <a:ext cx="5623560" cy="7772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4224528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6B6D4"/>
                </a:solidFill>
                <a:latin typeface="Calibri"/>
              </a:rPr>
              <a:t>YOLOv8n</a:t>
            </a:r>
            <a:r>
              <a:rPr sz="1300" b="0">
                <a:solidFill>
                  <a:srgbClr val="F8FAFC"/>
                </a:solidFill>
                <a:latin typeface="Calibri"/>
              </a:rPr>
              <a:t>  —  Detect person boxes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937760"/>
            <a:ext cx="5623560" cy="7772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5138928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6B6D4"/>
                </a:solidFill>
                <a:latin typeface="Calibri"/>
              </a:rPr>
              <a:t>Multi-band ROI</a:t>
            </a:r>
            <a:r>
              <a:rPr sz="1300" b="0">
                <a:solidFill>
                  <a:srgbClr val="F8FAFC"/>
                </a:solidFill>
                <a:latin typeface="Calibri"/>
              </a:rPr>
              <a:t>  —  chest/waist/hips crops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280160"/>
            <a:ext cx="5623560" cy="7772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0528" y="1481328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6B6D4"/>
                </a:solidFill>
                <a:latin typeface="Calibri"/>
              </a:rPr>
              <a:t>PP-OCRv5 mobile</a:t>
            </a:r>
            <a:r>
              <a:rPr sz="1300" b="0">
                <a:solidFill>
                  <a:srgbClr val="F8FAFC"/>
                </a:solidFill>
                <a:latin typeface="Calibri"/>
              </a:rPr>
              <a:t>  —  det chữ + rec chuỗi + score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194560"/>
            <a:ext cx="5623560" cy="7772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0528" y="2395728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6B6D4"/>
                </a:solidFill>
                <a:latin typeface="Calibri"/>
              </a:rPr>
              <a:t>Filter+Regex</a:t>
            </a:r>
            <a:r>
              <a:rPr sz="1300" b="0">
                <a:solidFill>
                  <a:srgbClr val="F8FAFC"/>
                </a:solidFill>
                <a:latin typeface="Calibri"/>
              </a:rPr>
              <a:t>  —  bỏ watermark, lấy shape BIB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3108960"/>
            <a:ext cx="5623560" cy="7772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0528" y="3310128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6B6D4"/>
                </a:solidFill>
                <a:latin typeface="Calibri"/>
              </a:rPr>
              <a:t>Dual threshold</a:t>
            </a:r>
            <a:r>
              <a:rPr sz="1300" b="0">
                <a:solidFill>
                  <a:srgbClr val="F8FAFC"/>
                </a:solidFill>
                <a:latin typeface="Calibri"/>
              </a:rPr>
              <a:t>  —  0.85 auto / 0.50 review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4023360"/>
            <a:ext cx="5623560" cy="7772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0528" y="4224528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6B6D4"/>
                </a:solidFill>
                <a:latin typeface="Calibri"/>
              </a:rPr>
              <a:t>Semaphore</a:t>
            </a:r>
            <a:r>
              <a:rPr sz="1300" b="0">
                <a:solidFill>
                  <a:srgbClr val="F8FAFC"/>
                </a:solidFill>
                <a:latin typeface="Calibri"/>
              </a:rPr>
              <a:t>  —  MAX_INFLIGHT bảo vệ RAM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510528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4A3B8"/>
                </a:solidFill>
                <a:latin typeface="Calibri"/>
              </a:rPr>
              <a:t>RaceDay OCR · Demo thuyết trình  ·  Giải thích thuật toán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510528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20/25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04 · Map file ↔ thuật toán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005840" cy="50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94A3B8"/>
                </a:solidFill>
                <a:latin typeface="Calibri"/>
              </a:rPr>
              <a:t>Khi share VS Code — nhảy đúng file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280160"/>
            <a:ext cx="5669280" cy="9601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5212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6B6D4"/>
                </a:solidFill>
                <a:latin typeface="Calibri"/>
              </a:rPr>
              <a:t>pipeline.py</a:t>
            </a:r>
          </a:p>
          <a:p>
            <a:r>
              <a:rPr sz="1300" b="0">
                <a:solidFill>
                  <a:srgbClr val="F8FAFC"/>
                </a:solidFill>
                <a:latin typeface="Calibri"/>
              </a:rPr>
              <a:t>Orchestrator gọi tất cả bước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280160"/>
            <a:ext cx="5669280" cy="9601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508760"/>
            <a:ext cx="5212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6B6D4"/>
                </a:solidFill>
                <a:latin typeface="Calibri"/>
              </a:rPr>
              <a:t>dedupe.py</a:t>
            </a:r>
          </a:p>
          <a:p>
            <a:r>
              <a:rPr sz="1300" b="0">
                <a:solidFill>
                  <a:srgbClr val="F8FAFC"/>
                </a:solidFill>
                <a:latin typeface="Calibri"/>
              </a:rPr>
              <a:t>SHA-256 + dHash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423160"/>
            <a:ext cx="5669280" cy="9601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651760"/>
            <a:ext cx="5212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6B6D4"/>
                </a:solidFill>
                <a:latin typeface="Calibri"/>
              </a:rPr>
              <a:t>quality.py</a:t>
            </a:r>
          </a:p>
          <a:p>
            <a:r>
              <a:rPr sz="1300" b="0">
                <a:solidFill>
                  <a:srgbClr val="F8FAFC"/>
                </a:solidFill>
                <a:latin typeface="Calibri"/>
              </a:rPr>
              <a:t>Laplacian blur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423160"/>
            <a:ext cx="5669280" cy="9601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651760"/>
            <a:ext cx="5212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6B6D4"/>
                </a:solidFill>
                <a:latin typeface="Calibri"/>
              </a:rPr>
              <a:t>preprocess.py</a:t>
            </a:r>
          </a:p>
          <a:p>
            <a:r>
              <a:rPr sz="1300" b="0">
                <a:solidFill>
                  <a:srgbClr val="F8FAFC"/>
                </a:solidFill>
                <a:latin typeface="Calibri"/>
              </a:rPr>
              <a:t>EXIF + downscale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3566160"/>
            <a:ext cx="5669280" cy="9601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794760"/>
            <a:ext cx="5212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6B6D4"/>
                </a:solidFill>
                <a:latin typeface="Calibri"/>
              </a:rPr>
              <a:t>detector.py</a:t>
            </a:r>
          </a:p>
          <a:p>
            <a:r>
              <a:rPr sz="1300" b="0">
                <a:solidFill>
                  <a:srgbClr val="F8FAFC"/>
                </a:solidFill>
                <a:latin typeface="Calibri"/>
              </a:rPr>
              <a:t>YOLO + multi-band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566160"/>
            <a:ext cx="5669280" cy="9601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794760"/>
            <a:ext cx="5212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6B6D4"/>
                </a:solidFill>
                <a:latin typeface="Calibri"/>
              </a:rPr>
              <a:t>ocr_engine.py</a:t>
            </a:r>
          </a:p>
          <a:p>
            <a:r>
              <a:rPr sz="1300" b="0">
                <a:solidFill>
                  <a:srgbClr val="F8FAFC"/>
                </a:solidFill>
                <a:latin typeface="Calibri"/>
              </a:rPr>
              <a:t>PaddleOCR mobile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4709160"/>
            <a:ext cx="5669280" cy="9601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937760"/>
            <a:ext cx="5212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6B6D4"/>
                </a:solidFill>
                <a:latin typeface="Calibri"/>
              </a:rPr>
              <a:t>confidence.py</a:t>
            </a:r>
          </a:p>
          <a:p>
            <a:r>
              <a:rPr sz="1300" b="0">
                <a:solidFill>
                  <a:srgbClr val="F8FAFC"/>
                </a:solidFill>
                <a:latin typeface="Calibri"/>
              </a:rPr>
              <a:t>Filter + classify bands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4709160"/>
            <a:ext cx="5669280" cy="9601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4937760"/>
            <a:ext cx="5212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6B6D4"/>
                </a:solidFill>
                <a:latin typeface="Calibri"/>
              </a:rPr>
              <a:t>concurrency.py</a:t>
            </a:r>
          </a:p>
          <a:p>
            <a:r>
              <a:rPr sz="1300" b="0">
                <a:solidFill>
                  <a:srgbClr val="F8FAFC"/>
                </a:solidFill>
                <a:latin typeface="Calibri"/>
              </a:rPr>
              <a:t>Semaphore MAX_INFLIGHT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510528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4A3B8"/>
                </a:solidFill>
                <a:latin typeface="Calibri"/>
              </a:rPr>
              <a:t>RaceDay OCR · Demo thuyết trình  ·  Giải thích thuật toán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6510528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21/25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05 · Vì sao dùng A — không dùng B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005840" cy="50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94A3B8"/>
                </a:solidFill>
                <a:latin typeface="Calibri"/>
              </a:rPr>
              <a:t>Trả lời mentor / Teams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11247120" cy="5943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62456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6B6D4"/>
                </a:solidFill>
                <a:latin typeface="Calibri"/>
              </a:rPr>
              <a:t>Paddle mobile ≠ Tesseract  ·  </a:t>
            </a:r>
            <a:r>
              <a:rPr sz="1300" b="0">
                <a:solidFill>
                  <a:srgbClr val="F8FAFC"/>
                </a:solidFill>
                <a:latin typeface="Calibri"/>
              </a:rPr>
              <a:t>Race photo nghiêng/mờ: mobile OCR ổn hơn; Tesseract yếu thực tế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920240"/>
            <a:ext cx="11247120" cy="5943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048256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6B6D4"/>
                </a:solidFill>
                <a:latin typeface="Calibri"/>
              </a:rPr>
              <a:t>YOLO→OCR ≠ full-frame OCR  ·  </a:t>
            </a:r>
            <a:r>
              <a:rPr sz="1300" b="0">
                <a:solidFill>
                  <a:srgbClr val="F8FAFC"/>
                </a:solidFill>
                <a:latin typeface="Calibri"/>
              </a:rPr>
              <a:t>Watermark score cao át BIB; ROI giảm nhiễu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606040"/>
            <a:ext cx="11247120" cy="5943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734056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6B6D4"/>
                </a:solidFill>
                <a:latin typeface="Calibri"/>
              </a:rPr>
              <a:t>Multi-band ≠ chỉ ngực  ·  </a:t>
            </a:r>
            <a:r>
              <a:rPr sz="1300" b="0">
                <a:solidFill>
                  <a:srgbClr val="F8FAFC"/>
                </a:solidFill>
                <a:latin typeface="Calibri"/>
              </a:rPr>
              <a:t>Bib VN hay ở bụng/đùi — đã miss khi 1 band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291840"/>
            <a:ext cx="11247120" cy="5943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419856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6B6D4"/>
                </a:solidFill>
                <a:latin typeface="Calibri"/>
              </a:rPr>
              <a:t>dHash ≠ chỉ filename  ·  </a:t>
            </a:r>
            <a:r>
              <a:rPr sz="1300" b="0">
                <a:solidFill>
                  <a:srgbClr val="F8FAFC"/>
                </a:solidFill>
                <a:latin typeface="Calibri"/>
              </a:rPr>
              <a:t>Photographer đổi tên / re-export JPEG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977639"/>
            <a:ext cx="11247120" cy="5943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105655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6B6D4"/>
                </a:solidFill>
                <a:latin typeface="Calibri"/>
              </a:rPr>
              <a:t>Dual threshold ≠ lấy max score  ·  </a:t>
            </a:r>
            <a:r>
              <a:rPr sz="1300" b="0">
                <a:solidFill>
                  <a:srgbClr val="F8FAFC"/>
                </a:solidFill>
                <a:latin typeface="Calibri"/>
              </a:rPr>
              <a:t>Score cao có thể là slogan sự kiện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663440"/>
            <a:ext cx="11247120" cy="5943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791455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6B6D4"/>
                </a:solidFill>
                <a:latin typeface="Calibri"/>
              </a:rPr>
              <a:t>Semaphore ≠ inflight lớn  ·  </a:t>
            </a:r>
            <a:r>
              <a:rPr sz="1300" b="0">
                <a:solidFill>
                  <a:srgbClr val="F8FAFC"/>
                </a:solidFill>
                <a:latin typeface="Calibri"/>
              </a:rPr>
              <a:t>Ổn định RAM; scale bằng nhiều worker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349240"/>
            <a:ext cx="11247120" cy="5943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5477255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6B6D4"/>
                </a:solidFill>
                <a:latin typeface="Calibri"/>
              </a:rPr>
              <a:t>OCR ≠ RFID  ·  </a:t>
            </a:r>
            <a:r>
              <a:rPr sz="1300" b="0">
                <a:solidFill>
                  <a:srgbClr val="F8FAFC"/>
                </a:solidFill>
                <a:latin typeface="Calibri"/>
              </a:rPr>
              <a:t>RFID timing; OCR gắn ảnh↔BIB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510528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4A3B8"/>
                </a:solidFill>
                <a:latin typeface="Calibri"/>
              </a:rPr>
              <a:t>RaceDay OCR · Demo thuyết trình  ·  Giải thích thuật toán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510528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22/25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06 · FAQ thuật toán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005840" cy="50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94A3B8"/>
                </a:solidFill>
                <a:latin typeface="Calibri"/>
              </a:rPr>
              <a:t>Hỏi → trả lời 1 câu → chỉ slide/file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280160"/>
            <a:ext cx="5623560" cy="14173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39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Conf=1 chắc đúng?</a:t>
            </a:r>
          </a:p>
          <a:p>
            <a:r>
              <a:rPr sz="1300" b="0">
                <a:solidFill>
                  <a:srgbClr val="94A3B8"/>
                </a:solidFill>
                <a:latin typeface="Calibri"/>
              </a:rPr>
              <a:t>Không — tin chuỗi đọc được</a:t>
            </a:r>
          </a:p>
          <a:p>
            <a:r>
              <a:rPr sz="1200" b="1">
                <a:solidFill>
                  <a:srgbClr val="06B6D4"/>
                </a:solidFill>
                <a:latin typeface="Calibri"/>
              </a:rPr>
              <a:t>→ 03.6 + confidence.py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280160"/>
            <a:ext cx="5623560" cy="14173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463039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Hamming là gì?</a:t>
            </a:r>
          </a:p>
          <a:p>
            <a:r>
              <a:rPr sz="1300" b="0">
                <a:solidFill>
                  <a:srgbClr val="94A3B8"/>
                </a:solidFill>
                <a:latin typeface="Calibri"/>
              </a:rPr>
              <a:t>Số bit khác giữa 2 dHash</a:t>
            </a:r>
          </a:p>
          <a:p>
            <a:r>
              <a:rPr sz="1200" b="1">
                <a:solidFill>
                  <a:srgbClr val="06B6D4"/>
                </a:solidFill>
                <a:latin typeface="Calibri"/>
              </a:rPr>
              <a:t>→ 03.2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880360"/>
            <a:ext cx="5623560" cy="14173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63240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Laplacian làm gì?</a:t>
            </a:r>
          </a:p>
          <a:p>
            <a:r>
              <a:rPr sz="1300" b="0">
                <a:solidFill>
                  <a:srgbClr val="94A3B8"/>
                </a:solidFill>
                <a:latin typeface="Calibri"/>
              </a:rPr>
              <a:t>Đo nét; thấp → bỏ ảnh mờ</a:t>
            </a:r>
          </a:p>
          <a:p>
            <a:r>
              <a:rPr sz="1200" b="1">
                <a:solidFill>
                  <a:srgbClr val="06B6D4"/>
                </a:solidFill>
                <a:latin typeface="Calibri"/>
              </a:rPr>
              <a:t>→ 03.3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880360"/>
            <a:ext cx="5623560" cy="14173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3063240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Sao 3 band?</a:t>
            </a:r>
          </a:p>
          <a:p>
            <a:r>
              <a:rPr sz="1300" b="0">
                <a:solidFill>
                  <a:srgbClr val="94A3B8"/>
                </a:solidFill>
                <a:latin typeface="Calibri"/>
              </a:rPr>
              <a:t>Bib ngực/bụng/đùi</a:t>
            </a:r>
          </a:p>
          <a:p>
            <a:r>
              <a:rPr sz="1200" b="1">
                <a:solidFill>
                  <a:srgbClr val="06B6D4"/>
                </a:solidFill>
                <a:latin typeface="Calibri"/>
              </a:rPr>
              <a:t>→ 03.5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4480560"/>
            <a:ext cx="5623560" cy="14173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663440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Scale photographer?</a:t>
            </a:r>
          </a:p>
          <a:p>
            <a:r>
              <a:rPr sz="1300" b="0">
                <a:solidFill>
                  <a:srgbClr val="94A3B8"/>
                </a:solidFill>
                <a:latin typeface="Calibri"/>
              </a:rPr>
              <a:t>N worker + queue; inflight=1</a:t>
            </a:r>
          </a:p>
          <a:p>
            <a:r>
              <a:rPr sz="1200" b="1">
                <a:solidFill>
                  <a:srgbClr val="06B6D4"/>
                </a:solidFill>
                <a:latin typeface="Calibri"/>
              </a:rPr>
              <a:t>→ 03.8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4480560"/>
            <a:ext cx="5623560" cy="14173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4663440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Ai sửa sai?</a:t>
            </a:r>
          </a:p>
          <a:p>
            <a:r>
              <a:rPr sz="1300" b="0">
                <a:solidFill>
                  <a:srgbClr val="94A3B8"/>
                </a:solidFill>
                <a:latin typeface="Calibri"/>
              </a:rPr>
              <a:t>Photographer Corrections (Web)</a:t>
            </a:r>
          </a:p>
          <a:p>
            <a:r>
              <a:rPr sz="1200" b="1">
                <a:solidFill>
                  <a:srgbClr val="06B6D4"/>
                </a:solidFill>
                <a:latin typeface="Calibri"/>
              </a:rPr>
              <a:t>→ ngoài OCR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510528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4A3B8"/>
                </a:solidFill>
                <a:latin typeface="Calibri"/>
              </a:rPr>
              <a:t>RaceDay OCR · Demo thuyết trình  ·  Giải thích thuật toán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60" y="6510528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23/25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Checklist trước 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005840" cy="50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94A3B8"/>
                </a:solidFill>
                <a:latin typeface="Calibri"/>
              </a:rPr>
              <a:t>src\run_demo.ps1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>
                <a:solidFill>
                  <a:srgbClr val="06B6D4"/>
                </a:solidFill>
                <a:latin typeface="Calibri"/>
              </a:rPr>
              <a:t>.\run_demo.ps1  → mở /demo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F8FAFC"/>
                </a:solidFill>
                <a:latin typeface="Calibri"/>
              </a:rPr>
              <a:t>OCR_MOCK=0 · YOLO_ENABLED=true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F8FAFC"/>
                </a:solidFill>
                <a:latin typeface="Calibri"/>
              </a:rPr>
              <a:t>Giải thích thuật toán: mục 03 trong PPTX này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F8FAFC"/>
                </a:solidFill>
                <a:latin typeface="Calibri"/>
              </a:rPr>
              <a:t>Markdown gốc: doc/07 + rule_design/02, 03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F8FAFC"/>
                </a:solidFill>
                <a:latin typeface="Calibri"/>
              </a:rPr>
              <a:t>Build lại: python doc/build_demo_pptx.py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4A3B8"/>
                </a:solidFill>
                <a:latin typeface="Calibri"/>
              </a:rPr>
              <a:t>RaceDay OCR · Demo thuyết trình  ·  Giải thích thuật toán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10528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24/25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Hết slide — sang /demo live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4747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06B6D4"/>
                </a:solidFill>
                <a:latin typeface="Calibri"/>
              </a:rPr>
              <a:t>http://127.0.0.1:8089/demo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4A3B8"/>
                </a:solidFill>
                <a:latin typeface="Calibri"/>
              </a:rPr>
              <a:t>RaceDay OCR · Demo thuyết trình  ·  Giải thích thuật toán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6510528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25/25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